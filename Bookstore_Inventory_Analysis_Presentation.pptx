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STIX Two Text SemiBold"/>
      <p:regular r:id="rId16"/>
      <p:bold r:id="rId17"/>
      <p:italic r:id="rId18"/>
      <p:boldItalic r:id="rId19"/>
    </p:embeddedFont>
    <p:embeddedFont>
      <p:font typeface="STIX Two Text"/>
      <p:regular r:id="rId20"/>
      <p:bold r:id="rId21"/>
      <p:italic r:id="rId22"/>
      <p:boldItalic r:id="rId23"/>
    </p:embeddedFont>
    <p:embeddedFont>
      <p:font typeface="STIX Two Text Medium"/>
      <p:regular r:id="rId24"/>
      <p:bold r:id="rId25"/>
      <p:italic r:id="rId26"/>
      <p:boldItalic r:id="rId27"/>
    </p:embeddedFont>
    <p:embeddedFont>
      <p:font typeface="Plus Jakarta Sans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TIXTwoText-regular.fntdata"/><Relationship Id="rId22" Type="http://schemas.openxmlformats.org/officeDocument/2006/relationships/font" Target="fonts/STIXTwoText-italic.fntdata"/><Relationship Id="rId21" Type="http://schemas.openxmlformats.org/officeDocument/2006/relationships/font" Target="fonts/STIXTwoText-bold.fntdata"/><Relationship Id="rId24" Type="http://schemas.openxmlformats.org/officeDocument/2006/relationships/font" Target="fonts/STIXTwoTextMedium-regular.fntdata"/><Relationship Id="rId23" Type="http://schemas.openxmlformats.org/officeDocument/2006/relationships/font" Target="fonts/STIXTwoTex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TIXTwoTextMedium-italic.fntdata"/><Relationship Id="rId25" Type="http://schemas.openxmlformats.org/officeDocument/2006/relationships/font" Target="fonts/STIXTwoTextMedium-bold.fntdata"/><Relationship Id="rId28" Type="http://schemas.openxmlformats.org/officeDocument/2006/relationships/font" Target="fonts/PlusJakartaSansMedium-regular.fntdata"/><Relationship Id="rId27" Type="http://schemas.openxmlformats.org/officeDocument/2006/relationships/font" Target="fonts/STIXTwoTex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Medium-boldItalic.fntdata"/><Relationship Id="rId30" Type="http://schemas.openxmlformats.org/officeDocument/2006/relationships/font" Target="fonts/PlusJakartaSans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TIXTwoTextSemiBold-bold.fntdata"/><Relationship Id="rId16" Type="http://schemas.openxmlformats.org/officeDocument/2006/relationships/font" Target="fonts/STIXTwoTextSemiBold-regular.fntdata"/><Relationship Id="rId19" Type="http://schemas.openxmlformats.org/officeDocument/2006/relationships/font" Target="fonts/STIXTwoTextSemiBold-boldItalic.fntdata"/><Relationship Id="rId18" Type="http://schemas.openxmlformats.org/officeDocument/2006/relationships/font" Target="fonts/STIXTwoTex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half.com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cdb73a1e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cdb73a1e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db73a1e61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cdb73a1e61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history in bookselling includes an online store at </a:t>
            </a:r>
            <a:r>
              <a:rPr lang="en" u="sng">
                <a:solidFill>
                  <a:schemeClr val="hlink"/>
                </a:solidFill>
                <a:hlinkClick r:id="rId2"/>
              </a:rPr>
              <a:t>Half.com</a:t>
            </a:r>
            <a:r>
              <a:rPr lang="en"/>
              <a:t> selling used textbooks, and work experience at Barnes &amp; Noble. I also did college work-study at two separate libraries.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db73a1e61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cdb73a1e61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getting an idea of early trends, I hope to steer acquisition efforts toward more cost-efficient avenues.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cdb73a1e61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cdb73a1e61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analysis will likely include format, and assessments of </a:t>
            </a:r>
            <a:r>
              <a:rPr lang="en"/>
              <a:t>fiction</a:t>
            </a:r>
            <a:r>
              <a:rPr lang="en"/>
              <a:t> vs non-fiction vs poetry vs graphic novel. My current ratios are about on par with bookstore industry averages.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cdb73a1e61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cdb73a1e61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history and military topics in questions are mostly WWII and the U.S. Civil War. Any genre can be divided further for deeper analysis, though current sample size may limit </a:t>
            </a:r>
            <a:r>
              <a:rPr lang="en"/>
              <a:t>significance of those results.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cdb73a1e61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cdb73a1e61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These high-priced </a:t>
            </a:r>
            <a:r>
              <a:rPr lang="en"/>
              <a:t>genres</a:t>
            </a:r>
            <a:r>
              <a:rPr lang="en"/>
              <a:t> all fall under fiction. I suspect romance may not have high resale value. This will be subject to further analysis.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cdb73a1e61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cdb73a1e61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of these books overall were sourced through thrifting, but the next slide provides a cost breakdown.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cdb73a1e61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cdb73a1e61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Again, format (hardcover vs paperback) was not assessed due to averaging of bulk purchases, but acquisition ratio is roughly even so far and on par with industry standards.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db73a1e61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cdb73a1e61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Thrifting may also be the easiest way to source books due to ubiquitousness, so balance will be key.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db73a1e61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cdb73a1e61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" name="Google Shape;23;p2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" name="Google Shape;26;p2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27" name="Google Shape;27;p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" name="Google Shape;29;p2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1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59" name="Google Shape;59;p6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6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" name="Google Shape;61;p6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62" name="Google Shape;62;p6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65" name="Google Shape;65;p6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6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6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2" type="subTitle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6" type="body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76" name="Google Shape;76;p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7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92" name="Google Shape;92;p7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hasCustomPrompt="1"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7"/>
          <p:cNvSpPr txBox="1"/>
          <p:nvPr>
            <p:ph hasCustomPrompt="1"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7"/>
          <p:cNvSpPr txBox="1"/>
          <p:nvPr>
            <p:ph hasCustomPrompt="1"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7"/>
          <p:cNvSpPr txBox="1"/>
          <p:nvPr>
            <p:ph hasCustomPrompt="1"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7"/>
          <p:cNvSpPr txBox="1"/>
          <p:nvPr>
            <p:ph hasCustomPrompt="1"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7"/>
          <p:cNvSpPr txBox="1"/>
          <p:nvPr>
            <p:ph hasCustomPrompt="1"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7"/>
          <p:cNvSpPr txBox="1"/>
          <p:nvPr>
            <p:ph hasCustomPrompt="1"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7"/>
          <p:cNvSpPr txBox="1"/>
          <p:nvPr>
            <p:ph hasCustomPrompt="1"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7"/>
          <p:cNvSpPr txBox="1"/>
          <p:nvPr>
            <p:ph hasCustomPrompt="1"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7"/>
          <p:cNvSpPr txBox="1"/>
          <p:nvPr>
            <p:ph hasCustomPrompt="1"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7"/>
          <p:cNvSpPr txBox="1"/>
          <p:nvPr>
            <p:ph hasCustomPrompt="1"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4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07" name="Google Shape;107;p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1" name="Google Shape;111;p8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2" name="Google Shape;112;p8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 txBox="1"/>
          <p:nvPr>
            <p:ph idx="1" type="subTitle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8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 txBox="1"/>
          <p:nvPr>
            <p:ph idx="2" type="subTitle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6" name="Google Shape;116;p8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 txBox="1"/>
          <p:nvPr>
            <p:ph idx="3" type="subTitle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8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 txBox="1"/>
          <p:nvPr>
            <p:ph idx="4" type="subTitle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0" name="Google Shape;120;p8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>
            <p:ph idx="5" type="subTitle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" name="Google Shape;122;p8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 txBox="1"/>
          <p:nvPr>
            <p:ph idx="6" type="subTitle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SECTION_HEADER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6" name="Google Shape;126;p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9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CUSTOM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" name="Google Shape;134;p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8" name="Google Shape;138;p10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1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" name="Google Shape;144;p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" name="Google Shape;148;p11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1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2" name="Google Shape;152;p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56" name="Google Shape;156;p12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57" name="Google Shape;157;p1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2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2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2" name="Google Shape;162;p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6" name="Google Shape;166;p13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with footer">
  <p:cSld name="CUSTOM_1_2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9" name="Google Shape;169;p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73" name="Google Shape;173;p14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3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" name="Google Shape;176;p14"/>
          <p:cNvSpPr txBox="1"/>
          <p:nvPr>
            <p:ph hasCustomPrompt="1"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2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79" name="Google Shape;179;p1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83" name="Google Shape;183;p15"/>
          <p:cNvSpPr txBox="1"/>
          <p:nvPr>
            <p:ph hasCustomPrompt="1"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>
            <a:r>
              <a:t>xx%</a:t>
            </a:r>
          </a:p>
        </p:txBody>
      </p:sp>
      <p:sp>
        <p:nvSpPr>
          <p:cNvPr id="184" name="Google Shape;184;p15"/>
          <p:cNvSpPr txBox="1"/>
          <p:nvPr>
            <p:ph idx="1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footer">
  <p:cSld name="CUSTOM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87" name="Google Shape;187;p1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1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16"/>
          <p:cNvSpPr txBox="1"/>
          <p:nvPr>
            <p:ph idx="3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4" type="subTitle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6"/>
          <p:cNvSpPr/>
          <p:nvPr>
            <p:ph idx="5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99" name="Google Shape;199;p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03" name="Google Shape;203;p17"/>
          <p:cNvSpPr txBox="1"/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17"/>
          <p:cNvSpPr/>
          <p:nvPr>
            <p:ph idx="2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2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08" name="Google Shape;208;p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12" name="Google Shape;212;p18"/>
          <p:cNvSpPr/>
          <p:nvPr>
            <p:ph idx="2" type="pic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18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_1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16" name="Google Shape;216;p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20" name="Google Shape;220;p1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22" name="Google Shape;222;p19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23" name="Google Shape;223;p1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19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19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" name="Google Shape;229;p19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34" name="Google Shape;234;p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38" name="Google Shape;238;p20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39" name="Google Shape;239;p20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0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2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3" name="Google Shape;243;p20"/>
          <p:cNvSpPr txBox="1"/>
          <p:nvPr>
            <p:ph idx="3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0"/>
          <p:cNvSpPr txBox="1"/>
          <p:nvPr>
            <p:ph idx="4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5" name="Google Shape;245;p20"/>
          <p:cNvSpPr txBox="1"/>
          <p:nvPr>
            <p:ph idx="5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0"/>
          <p:cNvSpPr txBox="1"/>
          <p:nvPr>
            <p:ph idx="6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20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3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50" name="Google Shape;250;p2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54" name="Google Shape;254;p21"/>
          <p:cNvSpPr txBox="1"/>
          <p:nvPr>
            <p:ph idx="1" type="subTitle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1"/>
          <p:cNvSpPr txBox="1"/>
          <p:nvPr>
            <p:ph idx="2" type="body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56" name="Google Shape;256;p21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57" name="Google Shape;257;p21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1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4" type="body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5" type="subTitle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6" type="body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7" type="subTitle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8" type="body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21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1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big ideas">
  <p:cSld name="CUSTOM_1_1_1_2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68" name="Google Shape;268;p2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272" name="Google Shape;272;p22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273" name="Google Shape;273;p22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2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22"/>
          <p:cNvSpPr txBox="1"/>
          <p:nvPr>
            <p:ph idx="2" type="subTitle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2"/>
          <p:cNvSpPr txBox="1"/>
          <p:nvPr>
            <p:ph idx="3" type="body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22"/>
          <p:cNvSpPr txBox="1"/>
          <p:nvPr>
            <p:ph idx="4" type="subTitle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2"/>
          <p:cNvSpPr txBox="1"/>
          <p:nvPr>
            <p:ph idx="5" type="body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ith footer">
  <p:cSld name="CUSTOM_1_1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283" name="Google Shape;283;p2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23"/>
          <p:cNvSpPr txBox="1"/>
          <p:nvPr>
            <p:ph idx="2" type="body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23"/>
          <p:cNvSpPr txBox="1"/>
          <p:nvPr>
            <p:ph idx="3" type="body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23"/>
          <p:cNvSpPr txBox="1"/>
          <p:nvPr>
            <p:ph idx="4" type="body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1" name="Google Shape;291;p23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93" name="Google Shape;293;p23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294" name="Google Shape;294;p23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23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1" name="Google Shape;301;p23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302" name="Google Shape;302;p23"/>
          <p:cNvSpPr txBox="1"/>
          <p:nvPr>
            <p:ph idx="15" type="body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 and image with footer">
  <p:cSld name="CUSTOM_1_1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05" name="Google Shape;305;p2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09" name="Google Shape;309;p24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idx="3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3" name="Google Shape;313;p24"/>
          <p:cNvSpPr txBox="1"/>
          <p:nvPr>
            <p:ph idx="4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24"/>
          <p:cNvSpPr/>
          <p:nvPr>
            <p:ph idx="5" type="pic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4"/>
          <p:cNvSpPr/>
          <p:nvPr>
            <p:ph idx="6" type="pic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24"/>
          <p:cNvSpPr txBox="1"/>
          <p:nvPr>
            <p:ph idx="7" type="title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24"/>
          <p:cNvSpPr txBox="1"/>
          <p:nvPr>
            <p:ph idx="8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8" name="Google Shape;318;p24"/>
          <p:cNvSpPr txBox="1"/>
          <p:nvPr>
            <p:ph idx="9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with footer">
  <p:cSld name="CUSTOM_1_1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21" name="Google Shape;321;p2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25" name="Google Shape;325;p2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25"/>
          <p:cNvSpPr/>
          <p:nvPr>
            <p:ph idx="3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5"/>
          <p:cNvSpPr/>
          <p:nvPr>
            <p:ph idx="4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0" name="Google Shape;330;p25"/>
          <p:cNvSpPr txBox="1"/>
          <p:nvPr>
            <p:ph idx="5" type="subTitle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25"/>
          <p:cNvSpPr txBox="1"/>
          <p:nvPr>
            <p:ph idx="6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2" name="Google Shape;332;p25"/>
          <p:cNvSpPr txBox="1"/>
          <p:nvPr>
            <p:ph idx="7" type="subTitle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5"/>
          <p:cNvSpPr txBox="1"/>
          <p:nvPr>
            <p:ph idx="8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3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36" name="Google Shape;336;p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40" name="Google Shape;340;p26"/>
          <p:cNvSpPr/>
          <p:nvPr>
            <p:ph idx="2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26"/>
          <p:cNvSpPr/>
          <p:nvPr>
            <p:ph idx="3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26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6"/>
          <p:cNvSpPr txBox="1"/>
          <p:nvPr>
            <p:ph idx="1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44" name="Google Shape;344;p26"/>
          <p:cNvSpPr txBox="1"/>
          <p:nvPr>
            <p:ph idx="4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45" name="Google Shape;345;p26"/>
          <p:cNvSpPr txBox="1"/>
          <p:nvPr>
            <p:ph idx="5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26"/>
          <p:cNvSpPr txBox="1"/>
          <p:nvPr>
            <p:ph idx="6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49" name="Google Shape;349;p2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" name="Google Shape;352;p2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53" name="Google Shape;353;p27"/>
          <p:cNvSpPr/>
          <p:nvPr>
            <p:ph idx="2" type="pic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7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5" name="Google Shape;355;p27"/>
          <p:cNvSpPr txBox="1"/>
          <p:nvPr>
            <p:ph idx="1" type="subTitle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56" name="Google Shape;356;p27"/>
          <p:cNvSpPr txBox="1"/>
          <p:nvPr>
            <p:ph idx="3" type="body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27"/>
          <p:cNvSpPr/>
          <p:nvPr>
            <p:ph idx="4" type="pic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27"/>
          <p:cNvSpPr txBox="1"/>
          <p:nvPr>
            <p:ph idx="5" type="subTitle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59" name="Google Shape;359;p27"/>
          <p:cNvSpPr txBox="1"/>
          <p:nvPr>
            <p:ph idx="6" type="body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27"/>
          <p:cNvSpPr/>
          <p:nvPr>
            <p:ph idx="7" type="pic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7"/>
          <p:cNvSpPr txBox="1"/>
          <p:nvPr>
            <p:ph idx="8" type="subTitle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62" name="Google Shape;362;p27"/>
          <p:cNvSpPr txBox="1"/>
          <p:nvPr>
            <p:ph idx="9" type="body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2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365" name="Google Shape;365;p2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2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69" name="Google Shape;369;p28"/>
          <p:cNvSpPr txBox="1"/>
          <p:nvPr>
            <p:ph idx="1" type="body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2" type="body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28"/>
          <p:cNvSpPr txBox="1"/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image with footer" type="tx">
  <p:cSld name="TITLE_AND_BOD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9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74" name="Google Shape;374;p2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378" name="Google Shape;378;p2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9" name="Google Shape;379;p2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80" name="Google Shape;380;p29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1" name="Google Shape;381;p29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29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3" name="Google Shape;383;p29"/>
          <p:cNvSpPr txBox="1"/>
          <p:nvPr>
            <p:ph idx="6" type="subTitle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384" name="Google Shape;384;p29"/>
          <p:cNvSpPr txBox="1"/>
          <p:nvPr>
            <p:ph idx="7" type="subTitle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5" name="Google Shape;385;p29"/>
          <p:cNvSpPr/>
          <p:nvPr>
            <p:ph idx="8" type="pic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29"/>
          <p:cNvSpPr txBox="1"/>
          <p:nvPr>
            <p:ph idx="9" type="subTitle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13" type="subTitle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8" name="Google Shape;388;p29"/>
          <p:cNvSpPr txBox="1"/>
          <p:nvPr>
            <p:ph idx="14" type="body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29"/>
          <p:cNvSpPr txBox="1"/>
          <p:nvPr>
            <p:ph idx="15" type="body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bookmarks">
  <p:cSld name="TITLE_AND_BODY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30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392" name="Google Shape;392;p30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5" name="Google Shape;395;p30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396" name="Google Shape;396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399" name="Google Shape;399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30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402" name="Google Shape;402;p30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3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05" name="Google Shape;405;p3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6" name="Google Shape;406;p3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7" name="Google Shape;407;p30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8" name="Google Shape;408;p30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30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0" name="Google Shape;410;p30"/>
          <p:cNvSpPr txBox="1"/>
          <p:nvPr>
            <p:ph idx="6" type="subTitle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1" name="Google Shape;411;p30"/>
          <p:cNvSpPr txBox="1"/>
          <p:nvPr>
            <p:ph idx="7" type="subTitle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2" name="Google Shape;412;p30"/>
          <p:cNvSpPr/>
          <p:nvPr>
            <p:ph idx="8" type="pic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0"/>
          <p:cNvSpPr txBox="1"/>
          <p:nvPr>
            <p:ph idx="9" type="subTitle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3" type="subTitle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15" name="Google Shape;415;p30"/>
          <p:cNvSpPr/>
          <p:nvPr>
            <p:ph idx="14" type="pic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30"/>
          <p:cNvSpPr txBox="1"/>
          <p:nvPr>
            <p:ph idx="15" type="body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30"/>
          <p:cNvSpPr txBox="1"/>
          <p:nvPr>
            <p:ph idx="16" type="subTitle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17" type="body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mparison" type="twoColTx">
  <p:cSld name="TITLE_AND_TWO_COLUMN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21" name="Google Shape;421;p3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3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25" name="Google Shape;425;p3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6" name="Google Shape;426;p3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7" name="Google Shape;427;p31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31"/>
          <p:cNvSpPr txBox="1"/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31"/>
          <p:cNvSpPr txBox="1"/>
          <p:nvPr>
            <p:ph idx="4" type="title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31"/>
          <p:cNvSpPr txBox="1"/>
          <p:nvPr>
            <p:ph idx="5" type="subTitle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1"/>
          <p:cNvSpPr txBox="1"/>
          <p:nvPr>
            <p:ph idx="6" type="body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31"/>
          <p:cNvSpPr txBox="1"/>
          <p:nvPr>
            <p:ph idx="7" type="title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8" type="title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9" type="subTitle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31"/>
          <p:cNvSpPr txBox="1"/>
          <p:nvPr>
            <p:ph idx="13" type="body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mparison">
  <p:cSld name="TITLE_AND_TWO_COLUMNS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3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38" name="Google Shape;438;p3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3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42" name="Google Shape;442;p3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3" name="Google Shape;443;p3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4" name="Google Shape;444;p32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32"/>
          <p:cNvSpPr txBox="1"/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32"/>
          <p:cNvSpPr txBox="1"/>
          <p:nvPr>
            <p:ph idx="4" type="title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7" name="Google Shape;447;p32"/>
          <p:cNvSpPr txBox="1"/>
          <p:nvPr>
            <p:ph idx="5" type="subTitle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32"/>
          <p:cNvSpPr txBox="1"/>
          <p:nvPr>
            <p:ph idx="6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32"/>
          <p:cNvSpPr txBox="1"/>
          <p:nvPr>
            <p:ph idx="7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footer">
  <p:cSld name="TITLE_AND_TWO_COLUMNS_1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52" name="Google Shape;452;p3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3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56" name="Google Shape;456;p33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7" name="Google Shape;457;p33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8" name="Google Shape;458;p33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9" name="Google Shape;459;p33"/>
          <p:cNvSpPr txBox="1"/>
          <p:nvPr>
            <p:ph idx="3" type="subTitle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33"/>
          <p:cNvSpPr txBox="1"/>
          <p:nvPr>
            <p:ph idx="4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3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463" name="Google Shape;463;p3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6" name="Google Shape;466;p3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67" name="Google Shape;467;p34"/>
          <p:cNvSpPr txBox="1"/>
          <p:nvPr>
            <p:ph idx="1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34"/>
          <p:cNvSpPr txBox="1"/>
          <p:nvPr>
            <p:ph idx="2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34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timeline" type="titleOnly">
  <p:cSld name="TITLE_ONL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72" name="Google Shape;472;p3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4" name="Google Shape;474;p35"/>
          <p:cNvSpPr txBox="1"/>
          <p:nvPr>
            <p:ph idx="1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5"/>
          <p:cNvSpPr txBox="1"/>
          <p:nvPr>
            <p:ph idx="2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78" name="Google Shape;478;p35"/>
          <p:cNvSpPr txBox="1"/>
          <p:nvPr>
            <p:ph idx="3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9" name="Google Shape;479;p35"/>
          <p:cNvSpPr txBox="1"/>
          <p:nvPr>
            <p:ph idx="4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0" name="Google Shape;480;p35"/>
          <p:cNvSpPr/>
          <p:nvPr/>
        </p:nvSpPr>
        <p:spPr>
          <a:xfrm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81" name="Google Shape;481;p35"/>
          <p:cNvSpPr txBox="1"/>
          <p:nvPr>
            <p:ph idx="5" type="body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35"/>
          <p:cNvSpPr txBox="1"/>
          <p:nvPr>
            <p:ph idx="6" type="subTitle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5"/>
          <p:cNvSpPr txBox="1"/>
          <p:nvPr>
            <p:ph idx="7" type="body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35"/>
          <p:cNvSpPr txBox="1"/>
          <p:nvPr>
            <p:ph idx="8" type="subTitle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timeline">
  <p:cSld name="TITLE_ONLY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6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487" name="Google Shape;487;p3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491" name="Google Shape;491;p3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2" name="Google Shape;492;p3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3" name="Google Shape;493;p36"/>
          <p:cNvSpPr txBox="1"/>
          <p:nvPr>
            <p:ph idx="3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idx="4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5" name="Google Shape;495;p36"/>
          <p:cNvSpPr/>
          <p:nvPr/>
        </p:nvSpPr>
        <p:spPr>
          <a:xfrm flipH="1"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96" name="Google Shape;496;p36"/>
          <p:cNvSpPr txBox="1"/>
          <p:nvPr>
            <p:ph idx="5" type="subTitle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36"/>
          <p:cNvSpPr txBox="1"/>
          <p:nvPr>
            <p:ph idx="6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37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0" name="Google Shape;500;p37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504" name="Google Shape;504;p37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37"/>
          <p:cNvSpPr txBox="1"/>
          <p:nvPr>
            <p:ph idx="1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_1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8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08" name="Google Shape;508;p38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3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2" name="Google Shape;512;p38"/>
          <p:cNvSpPr/>
          <p:nvPr>
            <p:ph idx="2" type="pic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1_1_1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39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515" name="Google Shape;515;p39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3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19" name="Google Shape;519;p39"/>
          <p:cNvSpPr/>
          <p:nvPr>
            <p:ph idx="2" type="pic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39"/>
          <p:cNvSpPr/>
          <p:nvPr>
            <p:ph idx="3" type="pic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39"/>
          <p:cNvSpPr/>
          <p:nvPr>
            <p:ph idx="4" type="pic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39"/>
          <p:cNvSpPr txBox="1"/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3" name="Google Shape;523;p39"/>
          <p:cNvSpPr/>
          <p:nvPr>
            <p:ph idx="5" type="pic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39"/>
          <p:cNvSpPr/>
          <p:nvPr>
            <p:ph idx="6" type="pic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39"/>
          <p:cNvSpPr/>
          <p:nvPr>
            <p:ph idx="7" type="pic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39"/>
          <p:cNvSpPr/>
          <p:nvPr>
            <p:ph idx="8" type="pic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39"/>
          <p:cNvSpPr/>
          <p:nvPr>
            <p:ph idx="9" type="pic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39"/>
          <p:cNvSpPr/>
          <p:nvPr>
            <p:ph idx="13" type="pic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7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iew">
  <p:cSld name="CUSTOM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4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531" name="Google Shape;531;p4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4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535" name="Google Shape;535;p40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fmla="val 969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7" name="Google Shape;537;p4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8" name="Google Shape;538;p40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40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40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1" name="Google Shape;541;p40"/>
          <p:cNvSpPr txBox="1"/>
          <p:nvPr>
            <p:ph idx="5" type="body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2" name="Google Shape;542;p40"/>
          <p:cNvSpPr txBox="1"/>
          <p:nvPr>
            <p:ph idx="6" type="subTitle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details">
  <p:cSld name="CUSTOM_3">
    <p:bg>
      <p:bgPr>
        <a:solidFill>
          <a:schemeClr val="lt2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1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1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41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48" name="Google Shape;548;p41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41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0" name="Google Shape;550;p41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51" name="Google Shape;551;p41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41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3" name="Google Shape;553;p41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54" name="Google Shape;554;p41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41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6" name="Google Shape;556;p41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41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8" name="Google Shape;558;p41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1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1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1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1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563" name="Google Shape;563;p41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_1">
    <p:bg>
      <p:bgPr>
        <a:solidFill>
          <a:schemeClr val="lt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2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8" name="Google Shape;568;p42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569" name="Google Shape;569;p42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42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1" name="Google Shape;571;p42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572" name="Google Shape;572;p42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42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4" name="Google Shape;574;p42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575" name="Google Shape;575;p42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42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7" name="Google Shape;577;p42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8" name="Google Shape;578;p42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79" name="Google Shape;579;p42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2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2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2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sz="3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sz="12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5.jp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4"/>
          <p:cNvSpPr txBox="1"/>
          <p:nvPr>
            <p:ph idx="1" type="subTitle"/>
          </p:nvPr>
        </p:nvSpPr>
        <p:spPr>
          <a:xfrm>
            <a:off x="1541475" y="2624950"/>
            <a:ext cx="53256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590" name="Google Shape;590;p44"/>
          <p:cNvSpPr txBox="1"/>
          <p:nvPr>
            <p:ph type="ctrTitle"/>
          </p:nvPr>
        </p:nvSpPr>
        <p:spPr>
          <a:xfrm>
            <a:off x="1494275" y="494850"/>
            <a:ext cx="7086300" cy="2076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Bookstore Inventory Analysis:</a:t>
            </a:r>
            <a:endParaRPr sz="3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Cost and Acquisitions</a:t>
            </a:r>
            <a:endParaRPr sz="3900"/>
          </a:p>
        </p:txBody>
      </p:sp>
      <p:sp>
        <p:nvSpPr>
          <p:cNvPr id="591" name="Google Shape;591;p44"/>
          <p:cNvSpPr txBox="1"/>
          <p:nvPr>
            <p:ph idx="3" type="subTitle"/>
          </p:nvPr>
        </p:nvSpPr>
        <p:spPr>
          <a:xfrm>
            <a:off x="6520825" y="3370751"/>
            <a:ext cx="2198100" cy="2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March 6, 2026</a:t>
            </a:r>
            <a:endParaRPr sz="1800"/>
          </a:p>
        </p:txBody>
      </p:sp>
      <p:sp>
        <p:nvSpPr>
          <p:cNvPr id="592" name="Google Shape;592;p44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Non-fiction</a:t>
            </a:r>
            <a:endParaRPr/>
          </a:p>
        </p:txBody>
      </p:sp>
      <p:sp>
        <p:nvSpPr>
          <p:cNvPr id="593" name="Google Shape;593;p44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Fiction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5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599" name="Google Shape;599;p45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00" name="Google Shape;600;p45"/>
          <p:cNvSpPr txBox="1"/>
          <p:nvPr>
            <p:ph type="title"/>
          </p:nvPr>
        </p:nvSpPr>
        <p:spPr>
          <a:xfrm>
            <a:off x="69925" y="683575"/>
            <a:ext cx="46017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How did this idea start?</a:t>
            </a:r>
            <a:endParaRPr sz="3100"/>
          </a:p>
        </p:txBody>
      </p:sp>
      <p:sp>
        <p:nvSpPr>
          <p:cNvPr id="601" name="Google Shape;601;p45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2025</a:t>
            </a:r>
            <a:endParaRPr/>
          </a:p>
        </p:txBody>
      </p:sp>
      <p:sp>
        <p:nvSpPr>
          <p:cNvPr id="602" name="Google Shape;602;p45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January 2026</a:t>
            </a:r>
            <a:endParaRPr/>
          </a:p>
        </p:txBody>
      </p:sp>
      <p:sp>
        <p:nvSpPr>
          <p:cNvPr id="603" name="Google Shape;603;p45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2026</a:t>
            </a:r>
            <a:endParaRPr/>
          </a:p>
        </p:txBody>
      </p:sp>
      <p:sp>
        <p:nvSpPr>
          <p:cNvPr id="604" name="Google Shape;604;p45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2026</a:t>
            </a:r>
            <a:endParaRPr/>
          </a:p>
        </p:txBody>
      </p:sp>
      <p:sp>
        <p:nvSpPr>
          <p:cNvPr id="605" name="Google Shape;605;p45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2000/2001</a:t>
            </a:r>
            <a:endParaRPr/>
          </a:p>
        </p:txBody>
      </p:sp>
      <p:sp>
        <p:nvSpPr>
          <p:cNvPr id="606" name="Google Shape;606;p45"/>
          <p:cNvSpPr txBox="1"/>
          <p:nvPr>
            <p:ph idx="1" type="body"/>
          </p:nvPr>
        </p:nvSpPr>
        <p:spPr>
          <a:xfrm>
            <a:off x="2370925" y="3564750"/>
            <a:ext cx="18804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acquire a large donation of books left over from an estate sale.</a:t>
            </a:r>
            <a:endParaRPr/>
          </a:p>
        </p:txBody>
      </p:sp>
      <p:sp>
        <p:nvSpPr>
          <p:cNvPr id="607" name="Google Shape;607;p45"/>
          <p:cNvSpPr txBox="1"/>
          <p:nvPr>
            <p:ph idx="15" type="body"/>
          </p:nvPr>
        </p:nvSpPr>
        <p:spPr>
          <a:xfrm>
            <a:off x="5251900" y="3564750"/>
            <a:ext cx="22413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My bookselling and book collecting experience informs low-cost acquisition strategies.</a:t>
            </a:r>
            <a:endParaRPr/>
          </a:p>
        </p:txBody>
      </p:sp>
      <p:cxnSp>
        <p:nvCxnSpPr>
          <p:cNvPr id="608" name="Google Shape;608;p45"/>
          <p:cNvCxnSpPr/>
          <p:nvPr/>
        </p:nvCxnSpPr>
        <p:spPr>
          <a:xfrm rot="10800000">
            <a:off x="1279500" y="2263688"/>
            <a:ext cx="0" cy="3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5"/>
          <p:cNvCxnSpPr/>
          <p:nvPr/>
        </p:nvCxnSpPr>
        <p:spPr>
          <a:xfrm rot="10800000">
            <a:off x="2924100" y="3228013"/>
            <a:ext cx="0" cy="3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5"/>
          <p:cNvCxnSpPr/>
          <p:nvPr/>
        </p:nvCxnSpPr>
        <p:spPr>
          <a:xfrm rot="10800000">
            <a:off x="4571975" y="2263688"/>
            <a:ext cx="0" cy="3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5"/>
          <p:cNvCxnSpPr/>
          <p:nvPr/>
        </p:nvCxnSpPr>
        <p:spPr>
          <a:xfrm rot="10800000">
            <a:off x="7864450" y="2263688"/>
            <a:ext cx="0" cy="3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5"/>
          <p:cNvCxnSpPr/>
          <p:nvPr/>
        </p:nvCxnSpPr>
        <p:spPr>
          <a:xfrm rot="10800000">
            <a:off x="6218250" y="3216650"/>
            <a:ext cx="0" cy="3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45"/>
          <p:cNvSpPr txBox="1"/>
          <p:nvPr>
            <p:ph idx="2" type="body"/>
          </p:nvPr>
        </p:nvSpPr>
        <p:spPr>
          <a:xfrm>
            <a:off x="306725" y="1528100"/>
            <a:ext cx="19398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Love of books fuels a dream and a vision to open a bookstore someday.</a:t>
            </a:r>
            <a:endParaRPr/>
          </a:p>
        </p:txBody>
      </p:sp>
      <p:sp>
        <p:nvSpPr>
          <p:cNvPr id="614" name="Google Shape;614;p45"/>
          <p:cNvSpPr txBox="1"/>
          <p:nvPr>
            <p:ph idx="4" type="body"/>
          </p:nvPr>
        </p:nvSpPr>
        <p:spPr>
          <a:xfrm>
            <a:off x="3261125" y="1483850"/>
            <a:ext cx="2131500" cy="7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mention bookstore vision to my wife, who loves the idea of starting a business.</a:t>
            </a:r>
            <a:endParaRPr/>
          </a:p>
        </p:txBody>
      </p:sp>
      <p:sp>
        <p:nvSpPr>
          <p:cNvPr id="615" name="Google Shape;615;p45"/>
          <p:cNvSpPr txBox="1"/>
          <p:nvPr>
            <p:ph idx="3" type="body"/>
          </p:nvPr>
        </p:nvSpPr>
        <p:spPr>
          <a:xfrm>
            <a:off x="6894150" y="1528100"/>
            <a:ext cx="1971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With over 500 books, I must now assess stock and plan future acquisitions.</a:t>
            </a:r>
            <a:endParaRPr/>
          </a:p>
        </p:txBody>
      </p:sp>
      <p:pic>
        <p:nvPicPr>
          <p:cNvPr descr="Woman shopping at secondhand bookstore (Provided by Getty Images)" id="616" name="Google Shape;61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23800"/>
            <a:ext cx="2101827" cy="1469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s sign (Provided by Getty Images)" id="617" name="Google Shape;61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5188" y="573500"/>
            <a:ext cx="1066051" cy="1927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ng Charles spaniel (Provided by Getty Images)" id="618" name="Google Shape;61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4925" y="3311299"/>
            <a:ext cx="856646" cy="1284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24" name="Google Shape;624;p4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25" name="Google Shape;625;p46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626" name="Google Shape;626;p46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have amassed a foundational inventory of 522 used books acquired through donations, thrift stores, and library sales.</a:t>
            </a:r>
            <a:endParaRPr/>
          </a:p>
        </p:txBody>
      </p:sp>
      <p:sp>
        <p:nvSpPr>
          <p:cNvPr id="627" name="Google Shape;627;p46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28" name="Google Shape;628;p46"/>
          <p:cNvSpPr txBox="1"/>
          <p:nvPr>
            <p:ph idx="6" type="body"/>
          </p:nvPr>
        </p:nvSpPr>
        <p:spPr>
          <a:xfrm>
            <a:off x="4829450" y="2249625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 part of my business plan, I seek</a:t>
            </a:r>
            <a:r>
              <a:rPr lang="en"/>
              <a:t> to understand my inventory in terms of genre distribution, acquisition cost, and method of acquisition.</a:t>
            </a:r>
            <a:endParaRPr/>
          </a:p>
        </p:txBody>
      </p:sp>
      <p:sp>
        <p:nvSpPr>
          <p:cNvPr id="629" name="Google Shape;629;p46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Outcomes</a:t>
            </a:r>
            <a:endParaRPr/>
          </a:p>
        </p:txBody>
      </p:sp>
      <p:sp>
        <p:nvSpPr>
          <p:cNvPr id="630" name="Google Shape;630;p46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Insights will help me manage future acquisitions and costs, and achieve a more balanced inventory in a cost-efficient way.</a:t>
            </a:r>
            <a:endParaRPr/>
          </a:p>
        </p:txBody>
      </p:sp>
      <p:sp>
        <p:nvSpPr>
          <p:cNvPr id="631" name="Google Shape;631;p46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32" name="Google Shape;632;p46"/>
          <p:cNvSpPr txBox="1"/>
          <p:nvPr/>
        </p:nvSpPr>
        <p:spPr>
          <a:xfrm>
            <a:off x="3572375" y="768096"/>
            <a:ext cx="640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01</a:t>
            </a:r>
            <a:endParaRPr sz="1600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633" name="Google Shape;633;p46"/>
          <p:cNvSpPr txBox="1"/>
          <p:nvPr/>
        </p:nvSpPr>
        <p:spPr>
          <a:xfrm>
            <a:off x="3572375" y="2018871"/>
            <a:ext cx="640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02</a:t>
            </a:r>
            <a:endParaRPr sz="1600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634" name="Google Shape;634;p46"/>
          <p:cNvSpPr txBox="1"/>
          <p:nvPr/>
        </p:nvSpPr>
        <p:spPr>
          <a:xfrm>
            <a:off x="3572375" y="3274821"/>
            <a:ext cx="640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03</a:t>
            </a:r>
            <a:endParaRPr sz="1600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7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40" name="Google Shape;640;p47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41" name="Google Shape;641;p47"/>
          <p:cNvSpPr txBox="1"/>
          <p:nvPr>
            <p:ph type="ctrTitle"/>
          </p:nvPr>
        </p:nvSpPr>
        <p:spPr>
          <a:xfrm>
            <a:off x="195250" y="693150"/>
            <a:ext cx="36741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000"/>
              <a:t>Context &amp; Caveats</a:t>
            </a:r>
            <a:endParaRPr/>
          </a:p>
        </p:txBody>
      </p:sp>
      <p:sp>
        <p:nvSpPr>
          <p:cNvPr id="642" name="Google Shape;642;p47"/>
          <p:cNvSpPr txBox="1"/>
          <p:nvPr>
            <p:ph idx="4" type="body"/>
          </p:nvPr>
        </p:nvSpPr>
        <p:spPr>
          <a:xfrm>
            <a:off x="195250" y="1446050"/>
            <a:ext cx="4107600" cy="29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• </a:t>
            </a:r>
            <a:r>
              <a:rPr b="1" lang="en" sz="1400"/>
              <a:t>Total book count</a:t>
            </a:r>
            <a:r>
              <a:rPr lang="en" sz="1400"/>
              <a:t> is likely dependent on the size of the leased space.</a:t>
            </a:r>
            <a:br>
              <a:rPr lang="en" sz="1400"/>
            </a:br>
            <a:br>
              <a:rPr lang="en" sz="1400"/>
            </a:br>
            <a:r>
              <a:rPr lang="en" sz="1400"/>
              <a:t>• Acquisition costs reflect </a:t>
            </a:r>
            <a:r>
              <a:rPr b="1" lang="en" sz="1400"/>
              <a:t>bulk purchase averages</a:t>
            </a:r>
            <a:r>
              <a:rPr lang="en" sz="1400"/>
              <a:t>; format (hardcover vs. paperback) not assessed.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• Analysis is focused on </a:t>
            </a:r>
            <a:r>
              <a:rPr b="1" lang="en" sz="1400"/>
              <a:t>genres</a:t>
            </a:r>
            <a:r>
              <a:rPr lang="en" sz="1400"/>
              <a:t>, </a:t>
            </a:r>
            <a:r>
              <a:rPr b="1" lang="en" sz="1400"/>
              <a:t>acquisition costs</a:t>
            </a:r>
            <a:r>
              <a:rPr lang="en" sz="1400"/>
              <a:t>, and </a:t>
            </a:r>
            <a:r>
              <a:rPr b="1" lang="en" sz="1400"/>
              <a:t>acquisition methods</a:t>
            </a:r>
            <a:r>
              <a:rPr lang="en" sz="1400"/>
              <a:t> to identify opportunities for genre diversity and cost-efficiency.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/>
              <a:t>• </a:t>
            </a:r>
            <a:r>
              <a:rPr b="1" lang="en" sz="1400"/>
              <a:t>No sales data yet</a:t>
            </a:r>
            <a:r>
              <a:rPr lang="en" sz="1400"/>
              <a:t>; still in inventory acquisition stage.</a:t>
            </a:r>
            <a:endParaRPr sz="1400"/>
          </a:p>
        </p:txBody>
      </p:sp>
      <p:pic>
        <p:nvPicPr>
          <p:cNvPr descr="I think you should stop reading now... (Provided by Getty Images)" id="643" name="Google Shape;6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250" y="1251275"/>
            <a:ext cx="4107617" cy="273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49" name="Google Shape;649;p4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50" name="Google Shape;650;p48"/>
          <p:cNvSpPr txBox="1"/>
          <p:nvPr>
            <p:ph idx="4" type="body"/>
          </p:nvPr>
        </p:nvSpPr>
        <p:spPr>
          <a:xfrm>
            <a:off x="7445900" y="833675"/>
            <a:ext cx="1698300" cy="35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Assessment:</a:t>
            </a:r>
            <a:br>
              <a:rPr lang="en"/>
            </a:br>
            <a:br>
              <a:rPr lang="en"/>
            </a:br>
            <a:r>
              <a:rPr lang="en"/>
              <a:t>About a quarter of inventory so far is </a:t>
            </a:r>
            <a:r>
              <a:rPr b="1" lang="en">
                <a:solidFill>
                  <a:schemeClr val="dk1"/>
                </a:solidFill>
              </a:rPr>
              <a:t>history and military</a:t>
            </a:r>
            <a:r>
              <a:rPr lang="en"/>
              <a:t> books. While some genres are underrepresented, inventory standards vary by bookstore, location, and reader interest.</a:t>
            </a:r>
            <a:endParaRPr/>
          </a:p>
        </p:txBody>
      </p:sp>
      <p:sp>
        <p:nvSpPr>
          <p:cNvPr id="651" name="Google Shape;651;p48"/>
          <p:cNvSpPr txBox="1"/>
          <p:nvPr/>
        </p:nvSpPr>
        <p:spPr>
          <a:xfrm>
            <a:off x="-325700" y="459025"/>
            <a:ext cx="4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rPr>
              <a:t>Number of Books per Genre</a:t>
            </a:r>
            <a:endParaRPr sz="1300"/>
          </a:p>
        </p:txBody>
      </p:sp>
      <p:pic>
        <p:nvPicPr>
          <p:cNvPr id="652" name="Google Shape;652;p48" title="books_per_gen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5" y="951625"/>
            <a:ext cx="7367373" cy="347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58" name="Google Shape;658;p4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59" name="Google Shape;659;p49"/>
          <p:cNvSpPr txBox="1"/>
          <p:nvPr>
            <p:ph type="title"/>
          </p:nvPr>
        </p:nvSpPr>
        <p:spPr>
          <a:xfrm>
            <a:off x="90850" y="351500"/>
            <a:ext cx="4758300" cy="6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Acquisition Cost per Book (by Genre)</a:t>
            </a:r>
            <a:endParaRPr sz="2000"/>
          </a:p>
        </p:txBody>
      </p:sp>
      <p:sp>
        <p:nvSpPr>
          <p:cNvPr id="660" name="Google Shape;660;p49"/>
          <p:cNvSpPr txBox="1"/>
          <p:nvPr>
            <p:ph idx="7" type="body"/>
          </p:nvPr>
        </p:nvSpPr>
        <p:spPr>
          <a:xfrm>
            <a:off x="5920800" y="971250"/>
            <a:ext cx="2824800" cy="32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Target: $0.50 per book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Mystery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/>
              <a:t> </a:t>
            </a:r>
            <a:r>
              <a:rPr b="1" lang="en">
                <a:solidFill>
                  <a:schemeClr val="dk1"/>
                </a:solidFill>
              </a:rPr>
              <a:t>romance</a:t>
            </a:r>
            <a:r>
              <a:rPr lang="en">
                <a:solidFill>
                  <a:srgbClr val="000000"/>
                </a:solidFill>
              </a:rPr>
              <a:t>,</a:t>
            </a:r>
            <a:r>
              <a:rPr lang="en"/>
              <a:t> and </a:t>
            </a:r>
            <a:r>
              <a:rPr b="1" lang="en">
                <a:solidFill>
                  <a:schemeClr val="dk1"/>
                </a:solidFill>
              </a:rPr>
              <a:t>literary fiction</a:t>
            </a:r>
            <a:r>
              <a:rPr b="1" lang="en"/>
              <a:t> </a:t>
            </a:r>
            <a:r>
              <a:rPr lang="en"/>
              <a:t>acquisitions exceeded this target.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History and military</a:t>
            </a:r>
            <a:r>
              <a:rPr lang="en"/>
              <a:t> books, though abundant, were predominantly donated.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Key Takeaway: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</a:t>
            </a:r>
            <a:r>
              <a:rPr lang="en"/>
              <a:t>acquisition</a:t>
            </a:r>
            <a:r>
              <a:rPr lang="en"/>
              <a:t> cost per book overall is </a:t>
            </a:r>
            <a:r>
              <a:rPr b="1" lang="en"/>
              <a:t>$0.27</a:t>
            </a:r>
            <a:r>
              <a:rPr lang="en"/>
              <a:t>. </a:t>
            </a:r>
            <a:r>
              <a:rPr lang="en"/>
              <a:t>Success spans many genres, not solely driven by donated history and military titles.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661" name="Google Shape;661;p49" title="Dashboard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2300"/>
            <a:ext cx="5400075" cy="364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	</a:t>
            </a:r>
            <a:endParaRPr/>
          </a:p>
        </p:txBody>
      </p:sp>
      <p:sp>
        <p:nvSpPr>
          <p:cNvPr id="667" name="Google Shape;667;p5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68" name="Google Shape;668;p50"/>
          <p:cNvSpPr txBox="1"/>
          <p:nvPr>
            <p:ph type="title"/>
          </p:nvPr>
        </p:nvSpPr>
        <p:spPr>
          <a:xfrm>
            <a:off x="94400" y="536000"/>
            <a:ext cx="4585200" cy="6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 Priciest Genres on Average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(Acquisition Method Breakdown)</a:t>
            </a:r>
            <a:endParaRPr sz="2000"/>
          </a:p>
        </p:txBody>
      </p:sp>
      <p:sp>
        <p:nvSpPr>
          <p:cNvPr id="669" name="Google Shape;669;p50"/>
          <p:cNvSpPr txBox="1"/>
          <p:nvPr>
            <p:ph idx="7" type="body"/>
          </p:nvPr>
        </p:nvSpPr>
        <p:spPr>
          <a:xfrm>
            <a:off x="5914250" y="1018400"/>
            <a:ext cx="2477400" cy="28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Assessment:</a:t>
            </a:r>
            <a:br>
              <a:rPr b="1" lang="en" sz="1400"/>
            </a:br>
            <a:br>
              <a:rPr lang="en" sz="1400"/>
            </a:br>
            <a:r>
              <a:rPr b="1" lang="en" sz="1400">
                <a:solidFill>
                  <a:schemeClr val="dk1"/>
                </a:solidFill>
              </a:rPr>
              <a:t>Mystery</a:t>
            </a:r>
            <a:r>
              <a:rPr lang="en" sz="1400"/>
              <a:t>, </a:t>
            </a:r>
            <a:r>
              <a:rPr b="1" lang="en" sz="1400">
                <a:solidFill>
                  <a:schemeClr val="dk1"/>
                </a:solidFill>
              </a:rPr>
              <a:t>romance</a:t>
            </a:r>
            <a:r>
              <a:rPr lang="en" sz="1400"/>
              <a:t>, and </a:t>
            </a:r>
            <a:r>
              <a:rPr b="1" lang="en" sz="1400">
                <a:solidFill>
                  <a:schemeClr val="dk1"/>
                </a:solidFill>
              </a:rPr>
              <a:t>literary fiction</a:t>
            </a:r>
            <a:r>
              <a:rPr lang="en" sz="1400"/>
              <a:t> have been heavily sourced through thrifting, though t</a:t>
            </a:r>
            <a:r>
              <a:rPr lang="en" sz="1400"/>
              <a:t>hese genres can also be obtained through library sales or donations, offering multiple sourcing options.</a:t>
            </a:r>
            <a:endParaRPr sz="1400"/>
          </a:p>
        </p:txBody>
      </p:sp>
      <p:pic>
        <p:nvPicPr>
          <p:cNvPr id="670" name="Google Shape;670;p50" title="Genre by Method of Acquisitio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25" y="1159700"/>
            <a:ext cx="3767650" cy="330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 </a:t>
            </a:r>
            <a:endParaRPr/>
          </a:p>
        </p:txBody>
      </p:sp>
      <p:sp>
        <p:nvSpPr>
          <p:cNvPr id="676" name="Google Shape;676;p5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</a:t>
            </a:r>
            <a:r>
              <a:rPr lang="en"/>
              <a:t> Inventory Analysis</a:t>
            </a:r>
            <a:endParaRPr/>
          </a:p>
        </p:txBody>
      </p:sp>
      <p:sp>
        <p:nvSpPr>
          <p:cNvPr id="677" name="Google Shape;677;p51"/>
          <p:cNvSpPr txBox="1"/>
          <p:nvPr>
            <p:ph type="title"/>
          </p:nvPr>
        </p:nvSpPr>
        <p:spPr>
          <a:xfrm>
            <a:off x="152400" y="560750"/>
            <a:ext cx="3638700" cy="6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Average cost of Acquisitions per Book (by Method)</a:t>
            </a:r>
            <a:endParaRPr sz="2000"/>
          </a:p>
        </p:txBody>
      </p:sp>
      <p:sp>
        <p:nvSpPr>
          <p:cNvPr id="678" name="Google Shape;678;p51"/>
          <p:cNvSpPr txBox="1"/>
          <p:nvPr>
            <p:ph idx="7" type="body"/>
          </p:nvPr>
        </p:nvSpPr>
        <p:spPr>
          <a:xfrm>
            <a:off x="6228850" y="1184450"/>
            <a:ext cx="23109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Thrifting</a:t>
            </a:r>
            <a:r>
              <a:rPr lang="en" sz="1400"/>
              <a:t> far exceeded the </a:t>
            </a:r>
            <a:r>
              <a:rPr lang="en" sz="1400"/>
              <a:t>$0.50 per book </a:t>
            </a:r>
            <a:r>
              <a:rPr lang="en" sz="1400"/>
              <a:t>acquisition goal, while </a:t>
            </a:r>
            <a:r>
              <a:rPr b="1" lang="en" sz="1400">
                <a:solidFill>
                  <a:schemeClr val="dk1"/>
                </a:solidFill>
              </a:rPr>
              <a:t>library sales</a:t>
            </a:r>
            <a:r>
              <a:rPr lang="en" sz="1400"/>
              <a:t> were roughly on track.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**Donations not included due to acquisition cost being zero.</a:t>
            </a:r>
            <a:endParaRPr sz="1100"/>
          </a:p>
        </p:txBody>
      </p:sp>
      <p:pic>
        <p:nvPicPr>
          <p:cNvPr id="679" name="Google Shape;679;p51" title="acq_cost_per_book_by_meth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8200"/>
            <a:ext cx="5597615" cy="328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sp>
        <p:nvSpPr>
          <p:cNvPr id="686" name="Google Shape;686;p52"/>
          <p:cNvSpPr txBox="1"/>
          <p:nvPr>
            <p:ph type="ctrTitle"/>
          </p:nvPr>
        </p:nvSpPr>
        <p:spPr>
          <a:xfrm>
            <a:off x="321075" y="918425"/>
            <a:ext cx="3792000" cy="8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687" name="Google Shape;687;p52"/>
          <p:cNvSpPr txBox="1"/>
          <p:nvPr>
            <p:ph idx="4" type="body"/>
          </p:nvPr>
        </p:nvSpPr>
        <p:spPr>
          <a:xfrm>
            <a:off x="4923775" y="825800"/>
            <a:ext cx="3963300" cy="3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</a:t>
            </a:r>
            <a:r>
              <a:rPr lang="en"/>
              <a:t> Thrifting may fill gaps in underrepresented genres or high-margin titles, but </a:t>
            </a:r>
            <a:r>
              <a:rPr b="1" lang="en"/>
              <a:t>should not be the primary sourcing method for used books.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Continue leveraging </a:t>
            </a:r>
            <a:r>
              <a:rPr b="1" lang="en"/>
              <a:t>donations and library sales</a:t>
            </a:r>
            <a:r>
              <a:rPr lang="en"/>
              <a:t>, which provide cost-efficient acquisitions.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Explore additional sourcing options, such as  </a:t>
            </a:r>
            <a:r>
              <a:rPr b="1" lang="en"/>
              <a:t>yard sales, estate sales, online purchases, </a:t>
            </a:r>
            <a:r>
              <a:rPr lang="en"/>
              <a:t>or </a:t>
            </a:r>
            <a:r>
              <a:rPr b="1" lang="en"/>
              <a:t>direct from individuals.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b="1" lang="en"/>
              <a:t>Consolidating some categories </a:t>
            </a:r>
            <a:r>
              <a:rPr lang="en"/>
              <a:t>(e.g. self-help with psychology) may </a:t>
            </a:r>
            <a:r>
              <a:rPr b="1" lang="en"/>
              <a:t>fill out emptier shelving</a:t>
            </a:r>
            <a:r>
              <a:rPr lang="en"/>
              <a:t> and </a:t>
            </a:r>
            <a:r>
              <a:rPr b="1" lang="en"/>
              <a:t>balance genre groups</a:t>
            </a:r>
            <a:r>
              <a:rPr lang="en"/>
              <a:t>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Current strategy is </a:t>
            </a:r>
            <a:r>
              <a:rPr b="1" lang="en"/>
              <a:t>robust to outlier donations</a:t>
            </a:r>
            <a:r>
              <a:rPr lang="en"/>
              <a:t>, suggesting scalability—efficient acquisitions remain possible even if donations shift.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ny pages. Girl searching for some information in the library full of books (Provided by Getty Images)" id="688" name="Google Shape;6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25" y="1954400"/>
            <a:ext cx="3422551" cy="22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3"/>
          <p:cNvSpPr txBox="1"/>
          <p:nvPr>
            <p:ph type="title"/>
          </p:nvPr>
        </p:nvSpPr>
        <p:spPr>
          <a:xfrm>
            <a:off x="663400" y="1134900"/>
            <a:ext cx="3242100" cy="3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you!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/>
            </a:br>
            <a:r>
              <a:rPr lang="en" sz="3600"/>
              <a:t>Questions?</a:t>
            </a:r>
            <a:br>
              <a:rPr lang="en"/>
            </a:b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lucasgfreeman@gmail.com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694" name="Google Shape;694;p53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G. Freeman</a:t>
            </a:r>
            <a:endParaRPr/>
          </a:p>
        </p:txBody>
      </p:sp>
      <p:sp>
        <p:nvSpPr>
          <p:cNvPr id="695" name="Google Shape;695;p53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Bookstore Inventory Analysis</a:t>
            </a:r>
            <a:endParaRPr/>
          </a:p>
        </p:txBody>
      </p:sp>
      <p:pic>
        <p:nvPicPr>
          <p:cNvPr descr="What have you been reading? (Provided by Getty Images)" id="696" name="Google Shape;6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575" y="1087537"/>
            <a:ext cx="4540201" cy="296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